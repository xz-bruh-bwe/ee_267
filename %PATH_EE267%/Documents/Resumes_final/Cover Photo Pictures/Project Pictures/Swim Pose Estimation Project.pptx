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3"/>
  </p:notesMasterIdLst>
  <p:sldIdLst>
    <p:sldId id="263" r:id="rId2"/>
  </p:sldIdLst>
  <p:sldSz cx="9144000" cy="6858000" type="screen4x3"/>
  <p:notesSz cx="7010400" cy="9296400"/>
  <p:embeddedFontLst>
    <p:embeddedFont>
      <p:font typeface="Helvetica Neue" panose="020B060402020202020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FN0VzOJWZkOjyaQYkVvTehX2m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A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806" y="90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28" Type="http://schemas.openxmlformats.org/officeDocument/2006/relationships/presProps" Target="presProps.xml"/><Relationship Id="rId31" Type="http://schemas.openxmlformats.org/officeDocument/2006/relationships/tableStyles" Target="tableStyles.xml"/><Relationship Id="rId4" Type="http://schemas.openxmlformats.org/officeDocument/2006/relationships/font" Target="fonts/font1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414463" y="1162050"/>
            <a:ext cx="4181475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628650" y="1204368"/>
            <a:ext cx="7886700" cy="8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628650" y="3061406"/>
            <a:ext cx="7886700" cy="27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One Column - Two-Line Headline">
  <p:cSld name="Blue One Column - Two-Line Headlin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28650" y="593559"/>
            <a:ext cx="7886700" cy="170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628650" y="3061847"/>
            <a:ext cx="7886700" cy="27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28650" y="2357963"/>
            <a:ext cx="788670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9" descr="SJSU Primary Mark" title="SJSU Primary Mark"/>
          <p:cNvSpPr txBox="1">
            <a:spLocks noGrp="1"/>
          </p:cNvSpPr>
          <p:nvPr>
            <p:ph type="body" idx="3"/>
          </p:nvPr>
        </p:nvSpPr>
        <p:spPr>
          <a:xfrm>
            <a:off x="5943600" y="6217920"/>
            <a:ext cx="2349470" cy="43891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wo Column - One-Line Headline">
  <p:cSld name="Blue Two Column - One-Line Headlin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628650" y="1204368"/>
            <a:ext cx="7886700" cy="8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628650" y="3061847"/>
            <a:ext cx="3823034" cy="27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628650" y="2117333"/>
            <a:ext cx="788670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3"/>
          </p:nvPr>
        </p:nvSpPr>
        <p:spPr>
          <a:xfrm>
            <a:off x="4704347" y="3061847"/>
            <a:ext cx="3811002" cy="27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" descr="SJSU Primary Mark" title="SJSU Primary Mark"/>
          <p:cNvSpPr txBox="1">
            <a:spLocks noGrp="1"/>
          </p:cNvSpPr>
          <p:nvPr>
            <p:ph type="body" idx="4"/>
          </p:nvPr>
        </p:nvSpPr>
        <p:spPr>
          <a:xfrm>
            <a:off x="5943600" y="6217920"/>
            <a:ext cx="2349470" cy="43891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wo Column - Two-Line Headline">
  <p:cSld name="Blue Two Column - Two-Line Headline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628650" y="3061847"/>
            <a:ext cx="3823034" cy="27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2"/>
          </p:nvPr>
        </p:nvSpPr>
        <p:spPr>
          <a:xfrm>
            <a:off x="4704347" y="3061847"/>
            <a:ext cx="3811002" cy="27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628650" y="593559"/>
            <a:ext cx="7886700" cy="1701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3"/>
          </p:nvPr>
        </p:nvSpPr>
        <p:spPr>
          <a:xfrm>
            <a:off x="628650" y="2357963"/>
            <a:ext cx="788670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1" descr="SJSU Primary Mark" title="SJSU Primary Mark"/>
          <p:cNvSpPr txBox="1">
            <a:spLocks noGrp="1"/>
          </p:cNvSpPr>
          <p:nvPr>
            <p:ph type="body" idx="4"/>
          </p:nvPr>
        </p:nvSpPr>
        <p:spPr>
          <a:xfrm>
            <a:off x="5943600" y="6217920"/>
            <a:ext cx="2349470" cy="43891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Three Column">
  <p:cSld name="Blue Three Colum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28650" y="1204368"/>
            <a:ext cx="7886700" cy="8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628650" y="2823412"/>
            <a:ext cx="2464464" cy="31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28650" y="2117333"/>
            <a:ext cx="7886700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body" idx="3"/>
          </p:nvPr>
        </p:nvSpPr>
        <p:spPr>
          <a:xfrm>
            <a:off x="3455066" y="2821216"/>
            <a:ext cx="2349166" cy="31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body" idx="4"/>
          </p:nvPr>
        </p:nvSpPr>
        <p:spPr>
          <a:xfrm>
            <a:off x="6166184" y="2821215"/>
            <a:ext cx="2349166" cy="3192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2" descr="SJSU Primary Mark" title="SJSU Primary Mark"/>
          <p:cNvSpPr txBox="1">
            <a:spLocks noGrp="1"/>
          </p:cNvSpPr>
          <p:nvPr>
            <p:ph type="body" idx="5"/>
          </p:nvPr>
        </p:nvSpPr>
        <p:spPr>
          <a:xfrm>
            <a:off x="5943600" y="6217920"/>
            <a:ext cx="2349470" cy="43891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Helvetica Neue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Helvetica Neue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628650" y="1204368"/>
            <a:ext cx="7886700" cy="88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628650" y="3061406"/>
            <a:ext cx="7886700" cy="279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8C904-29FE-D0D8-1E2E-8459E6C61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23" y="116472"/>
            <a:ext cx="8008356" cy="886159"/>
          </a:xfrm>
        </p:spPr>
        <p:txBody>
          <a:bodyPr>
            <a:noAutofit/>
          </a:bodyPr>
          <a:lstStyle/>
          <a:p>
            <a:r>
              <a:rPr lang="en-US" sz="2800" dirty="0"/>
              <a:t>General Overview of Image Processing Pipeline</a:t>
            </a:r>
          </a:p>
        </p:txBody>
      </p:sp>
      <p:pic>
        <p:nvPicPr>
          <p:cNvPr id="6" name="Picture 5" descr="A person swimming underwater in a pool&#10;&#10;Description automatically generated">
            <a:extLst>
              <a:ext uri="{FF2B5EF4-FFF2-40B4-BE49-F238E27FC236}">
                <a16:creationId xmlns:a16="http://schemas.microsoft.com/office/drawing/2014/main" id="{D0A44C84-CF79-7B3B-432F-E3C4E6FA2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6" y="1131436"/>
            <a:ext cx="2587028" cy="1274522"/>
          </a:xfrm>
          <a:prstGeom prst="rect">
            <a:avLst/>
          </a:prstGeom>
        </p:spPr>
      </p:pic>
      <p:pic>
        <p:nvPicPr>
          <p:cNvPr id="7" name="Picture 6" descr="A person swimming in a pool&#10;&#10;Description automatically generated">
            <a:extLst>
              <a:ext uri="{FF2B5EF4-FFF2-40B4-BE49-F238E27FC236}">
                <a16:creationId xmlns:a16="http://schemas.microsoft.com/office/drawing/2014/main" id="{6D7C20FB-7F53-61D3-F093-E7F237232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534" y="1131436"/>
            <a:ext cx="2754754" cy="1274522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28B09-0A96-D65D-ECE6-1CB27381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9899" y="1131436"/>
            <a:ext cx="3216982" cy="5111742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Numbers 1 – 6 display the general pipeline of image processing used to execute the task.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image is extracted and enhance as preprocessing to be sent </a:t>
            </a:r>
            <a:r>
              <a:rPr lang="en-US" sz="1600" dirty="0" err="1"/>
              <a:t>MediaPipe</a:t>
            </a:r>
            <a:r>
              <a:rPr lang="en-US" sz="1600" dirty="0"/>
              <a:t> neural network.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main use of using </a:t>
            </a:r>
            <a:r>
              <a:rPr lang="en-US" sz="1600" dirty="0" err="1"/>
              <a:t>MediaPipe</a:t>
            </a:r>
            <a:r>
              <a:rPr lang="en-US" sz="1600" dirty="0"/>
              <a:t> is to locate where in the enhanced image the swimmer might be in frame.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/>
              <a:t>The YOLOv7 provided critical key-points data found for the segmented swimmer to be used for training.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897566C-DA30-F739-222B-FFAC0733B48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681524" y="1768697"/>
            <a:ext cx="363010" cy="0"/>
          </a:xfrm>
          <a:prstGeom prst="straightConnector1">
            <a:avLst/>
          </a:prstGeom>
          <a:ln w="3810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hild swimming in a pool&#10;&#10;Description automatically generated">
            <a:extLst>
              <a:ext uri="{FF2B5EF4-FFF2-40B4-BE49-F238E27FC236}">
                <a16:creationId xmlns:a16="http://schemas.microsoft.com/office/drawing/2014/main" id="{EB37BB24-1576-5186-2D2E-20A62B98C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5" y="2812534"/>
            <a:ext cx="2440475" cy="1485590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2AC9C01-4DB9-8DBD-750F-B61229717855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 rot="5400000">
            <a:off x="2665034" y="1055657"/>
            <a:ext cx="406576" cy="3107178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329208E-61EE-6448-3684-0EE824E00CFA}"/>
              </a:ext>
            </a:extLst>
          </p:cNvPr>
          <p:cNvSpPr txBox="1"/>
          <p:nvPr/>
        </p:nvSpPr>
        <p:spPr>
          <a:xfrm>
            <a:off x="0" y="823658"/>
            <a:ext cx="174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 Extract Images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54E7BF-56D8-EA7F-5BD3-F6CBF2BAAADD}"/>
              </a:ext>
            </a:extLst>
          </p:cNvPr>
          <p:cNvSpPr txBox="1"/>
          <p:nvPr/>
        </p:nvSpPr>
        <p:spPr>
          <a:xfrm>
            <a:off x="2996323" y="826195"/>
            <a:ext cx="2339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Enhance Image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82EF61-8C6E-9E17-6E03-A1264D8F15AB}"/>
              </a:ext>
            </a:extLst>
          </p:cNvPr>
          <p:cNvSpPr txBox="1"/>
          <p:nvPr/>
        </p:nvSpPr>
        <p:spPr>
          <a:xfrm>
            <a:off x="0" y="4298154"/>
            <a:ext cx="2587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MediaPipe Object Location</a:t>
            </a:r>
          </a:p>
        </p:txBody>
      </p:sp>
      <p:pic>
        <p:nvPicPr>
          <p:cNvPr id="24" name="Picture 23" descr="A person swimming in a pool&#10;&#10;Description automatically generated">
            <a:extLst>
              <a:ext uri="{FF2B5EF4-FFF2-40B4-BE49-F238E27FC236}">
                <a16:creationId xmlns:a16="http://schemas.microsoft.com/office/drawing/2014/main" id="{1A1AAD85-0AC8-4CF0-3383-128DDF515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8856" y="2786090"/>
            <a:ext cx="2440474" cy="153847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40A7ECE-79CB-C736-8BD2-14C394F7357C}"/>
              </a:ext>
            </a:extLst>
          </p:cNvPr>
          <p:cNvSpPr txBox="1"/>
          <p:nvPr/>
        </p:nvSpPr>
        <p:spPr>
          <a:xfrm>
            <a:off x="4421911" y="4298124"/>
            <a:ext cx="13773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4. SAM Segmentation</a:t>
            </a:r>
          </a:p>
        </p:txBody>
      </p:sp>
      <p:pic>
        <p:nvPicPr>
          <p:cNvPr id="27" name="Picture 26" descr="A person in a swimsuit diving&#10;&#10;Description automatically generated">
            <a:extLst>
              <a:ext uri="{FF2B5EF4-FFF2-40B4-BE49-F238E27FC236}">
                <a16:creationId xmlns:a16="http://schemas.microsoft.com/office/drawing/2014/main" id="{6FC60E6C-B5A1-BB14-080B-85A199674C8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215" r="11506"/>
          <a:stretch/>
        </p:blipFill>
        <p:spPr>
          <a:xfrm>
            <a:off x="19744" y="5107007"/>
            <a:ext cx="2343209" cy="12756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D3CCCD-0679-B39B-0D38-B1A2E0A07F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3029" y="5201797"/>
            <a:ext cx="2997228" cy="1086079"/>
          </a:xfrm>
          <a:prstGeom prst="rect">
            <a:avLst/>
          </a:prstGeom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CB5DE61-0547-A716-3591-CECD68F34549}"/>
              </a:ext>
            </a:extLst>
          </p:cNvPr>
          <p:cNvCxnSpPr>
            <a:cxnSpLocks/>
            <a:stCxn id="24" idx="2"/>
            <a:endCxn id="27" idx="0"/>
          </p:cNvCxnSpPr>
          <p:nvPr/>
        </p:nvCxnSpPr>
        <p:spPr>
          <a:xfrm rot="5400000">
            <a:off x="2354001" y="3161915"/>
            <a:ext cx="782440" cy="3107744"/>
          </a:xfrm>
          <a:prstGeom prst="bentConnector3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D230181-FDD9-BC15-D22F-F4E689BF89F9}"/>
              </a:ext>
            </a:extLst>
          </p:cNvPr>
          <p:cNvSpPr txBox="1"/>
          <p:nvPr/>
        </p:nvSpPr>
        <p:spPr>
          <a:xfrm>
            <a:off x="57119" y="6344238"/>
            <a:ext cx="2369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Overlay Segmented Swimmer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D5D35A-E251-38EC-5213-4AE4E8CF6584}"/>
              </a:ext>
            </a:extLst>
          </p:cNvPr>
          <p:cNvSpPr txBox="1"/>
          <p:nvPr/>
        </p:nvSpPr>
        <p:spPr>
          <a:xfrm>
            <a:off x="2847304" y="6243178"/>
            <a:ext cx="2369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 Run Pose Estimation Using YOLOv7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D4CA443-D5B7-234D-470A-9CC9EF7979DA}"/>
              </a:ext>
            </a:extLst>
          </p:cNvPr>
          <p:cNvCxnSpPr>
            <a:stCxn id="12" idx="3"/>
            <a:endCxn id="24" idx="1"/>
          </p:cNvCxnSpPr>
          <p:nvPr/>
        </p:nvCxnSpPr>
        <p:spPr>
          <a:xfrm>
            <a:off x="2534970" y="3555329"/>
            <a:ext cx="54388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D71923B-0440-1AB7-7264-668293F6BBC5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362954" y="5744837"/>
            <a:ext cx="500075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139910"/>
      </p:ext>
    </p:extLst>
  </p:cSld>
  <p:clrMapOvr>
    <a:masterClrMapping/>
  </p:clrMapOvr>
</p:sld>
</file>

<file path=ppt/theme/theme1.xml><?xml version="1.0" encoding="utf-8"?>
<a:theme xmlns:a="http://schemas.openxmlformats.org/drawingml/2006/main" name="5_Blue Content Slides">
  <a:themeElements>
    <a:clrScheme name="SJSU">
      <a:dk1>
        <a:srgbClr val="000000"/>
      </a:dk1>
      <a:lt1>
        <a:srgbClr val="FFFFFF"/>
      </a:lt1>
      <a:dk2>
        <a:srgbClr val="0055A2"/>
      </a:dk2>
      <a:lt2>
        <a:srgbClr val="666666"/>
      </a:lt2>
      <a:accent1>
        <a:srgbClr val="0055A2"/>
      </a:accent1>
      <a:accent2>
        <a:srgbClr val="E5A823"/>
      </a:accent2>
      <a:accent3>
        <a:srgbClr val="818485"/>
      </a:accent3>
      <a:accent4>
        <a:srgbClr val="FFC000"/>
      </a:accent4>
      <a:accent5>
        <a:srgbClr val="4472C4"/>
      </a:accent5>
      <a:accent6>
        <a:srgbClr val="70AD47"/>
      </a:accent6>
      <a:hlink>
        <a:srgbClr val="E5A823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105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 Neue</vt:lpstr>
      <vt:lpstr>5_Blue Content Slides</vt:lpstr>
      <vt:lpstr>General Overview of Image Processing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Wrappe</dc:creator>
  <cp:lastModifiedBy>Baron Windsor Eiley</cp:lastModifiedBy>
  <cp:revision>165</cp:revision>
  <dcterms:created xsi:type="dcterms:W3CDTF">2017-08-23T13:02:48Z</dcterms:created>
  <dcterms:modified xsi:type="dcterms:W3CDTF">2026-03-07T19:50:42Z</dcterms:modified>
</cp:coreProperties>
</file>